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bc88fe28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bc88fe28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c88fe28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c88fe28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bc88fe28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bc88fe28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bc88fe28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bc88fe28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bc88fe28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bc88fe28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c88fe28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bc88fe28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c88fe28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c88fe28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bc88fe28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bc88fe28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bc88fe28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bc88fe28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c88fe28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c88fe28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c88fe28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c88fe28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c88fe28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c88fe28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c88fe28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bc88fe28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c88fe28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bc88fe28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c88fe28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bc88fe28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bc88fe28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bc88fe28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bc88fe28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bc88fe28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bc88fe28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bc88fe28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60450"/>
            <a:ext cx="8520600" cy="101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Sugar Clash*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09800" y="4350900"/>
            <a:ext cx="4534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>
                <a:solidFill>
                  <a:schemeClr val="lt1"/>
                </a:solidFill>
              </a:rPr>
              <a:t>Proiect și </a:t>
            </a:r>
            <a:r>
              <a:rPr lang="ro" sz="1800">
                <a:solidFill>
                  <a:schemeClr val="lt1"/>
                </a:solidFill>
              </a:rPr>
              <a:t>aplicație</a:t>
            </a:r>
            <a:r>
              <a:rPr lang="ro" sz="1800">
                <a:solidFill>
                  <a:schemeClr val="lt1"/>
                </a:solidFill>
              </a:rPr>
              <a:t> realizate de:</a:t>
            </a:r>
            <a:br>
              <a:rPr lang="ro" sz="1800">
                <a:solidFill>
                  <a:schemeClr val="lt1"/>
                </a:solidFill>
              </a:rPr>
            </a:br>
            <a:r>
              <a:rPr lang="ro" sz="1800">
                <a:solidFill>
                  <a:schemeClr val="lt1"/>
                </a:solidFill>
              </a:rPr>
              <a:t>Bălănean Mihai-Cristian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052150" y="2571750"/>
            <a:ext cx="50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>
                <a:solidFill>
                  <a:srgbClr val="666666"/>
                </a:solidFill>
              </a:rPr>
              <a:t>*“Candy Crush” este trademark al companiei King.com Ltd și nu va fi folosit din motive legale</a:t>
            </a:r>
            <a:endParaRPr sz="1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Tehnologii folosite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Mediu de programare: CLion 2025.2.2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Limbaj de programare: C++20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Biblioteci utilizate: 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iostream - pentru teste </a:t>
            </a:r>
            <a:r>
              <a:rPr lang="ro">
                <a:solidFill>
                  <a:schemeClr val="lt1"/>
                </a:solidFill>
              </a:rPr>
              <a:t>inițiale</a:t>
            </a:r>
            <a:r>
              <a:rPr lang="ro">
                <a:solidFill>
                  <a:schemeClr val="lt1"/>
                </a:solidFill>
              </a:rPr>
              <a:t> pe cazuri specifice, afișarea progresului;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fstream - salvarea datelor finale </a:t>
            </a:r>
            <a:r>
              <a:rPr lang="ro">
                <a:solidFill>
                  <a:schemeClr val="lt1"/>
                </a:solidFill>
              </a:rPr>
              <a:t>într-un</a:t>
            </a:r>
            <a:r>
              <a:rPr lang="ro">
                <a:solidFill>
                  <a:schemeClr val="lt1"/>
                </a:solidFill>
              </a:rPr>
              <a:t> format </a:t>
            </a:r>
            <a:r>
              <a:rPr lang="ro">
                <a:solidFill>
                  <a:schemeClr val="lt1"/>
                </a:solidFill>
              </a:rPr>
              <a:t>ușor</a:t>
            </a:r>
            <a:r>
              <a:rPr lang="ro">
                <a:solidFill>
                  <a:schemeClr val="lt1"/>
                </a:solidFill>
              </a:rPr>
              <a:t> de citit;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random - pentru generarea random a jocurilor </a:t>
            </a:r>
            <a:r>
              <a:rPr lang="ro">
                <a:solidFill>
                  <a:schemeClr val="lt1"/>
                </a:solidFill>
              </a:rPr>
              <a:t>și</a:t>
            </a:r>
            <a:r>
              <a:rPr lang="ro">
                <a:solidFill>
                  <a:schemeClr val="lt1"/>
                </a:solidFill>
              </a:rPr>
              <a:t> a “bomboanelor”;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ctime - </a:t>
            </a:r>
            <a:r>
              <a:rPr lang="ro">
                <a:solidFill>
                  <a:schemeClr val="lt1"/>
                </a:solidFill>
              </a:rPr>
              <a:t>afișarea</a:t>
            </a:r>
            <a:r>
              <a:rPr lang="ro">
                <a:solidFill>
                  <a:schemeClr val="lt1"/>
                </a:solidFill>
              </a:rPr>
              <a:t> exactă a momentelor de start/stop ale celor 100 de simulări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o">
                <a:solidFill>
                  <a:schemeClr val="lt1"/>
                </a:solidFill>
              </a:rPr>
              <a:t>A</a:t>
            </a:r>
            <a:r>
              <a:rPr lang="ro">
                <a:solidFill>
                  <a:schemeClr val="lt1"/>
                </a:solidFill>
              </a:rPr>
              <a:t>rhitectura soluției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 folosite se </a:t>
            </a:r>
            <a:r>
              <a:rPr lang="ro">
                <a:solidFill>
                  <a:schemeClr val="lt1"/>
                </a:solidFill>
              </a:rPr>
              <a:t>încadrează</a:t>
            </a:r>
            <a:r>
              <a:rPr lang="ro">
                <a:solidFill>
                  <a:schemeClr val="lt1"/>
                </a:solidFill>
              </a:rPr>
              <a:t> în 4 categorii: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Prelucrare neutră joc: detectare, clasificare, </a:t>
            </a:r>
            <a:r>
              <a:rPr lang="ro">
                <a:solidFill>
                  <a:schemeClr val="lt1"/>
                </a:solidFill>
              </a:rPr>
              <a:t>afișare</a:t>
            </a:r>
            <a:r>
              <a:rPr lang="ro">
                <a:solidFill>
                  <a:schemeClr val="lt1"/>
                </a:solidFill>
              </a:rPr>
              <a:t>;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Prelucrare pozitivă joc: generare, regenerare, </a:t>
            </a:r>
            <a:r>
              <a:rPr lang="ro">
                <a:solidFill>
                  <a:schemeClr val="lt1"/>
                </a:solidFill>
              </a:rPr>
              <a:t>gravitație</a:t>
            </a:r>
            <a:r>
              <a:rPr lang="ro">
                <a:solidFill>
                  <a:schemeClr val="lt1"/>
                </a:solidFill>
              </a:rPr>
              <a:t>;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Prelucrare </a:t>
            </a:r>
            <a:r>
              <a:rPr lang="ro">
                <a:solidFill>
                  <a:schemeClr val="lt1"/>
                </a:solidFill>
              </a:rPr>
              <a:t>negativă</a:t>
            </a:r>
            <a:r>
              <a:rPr lang="ro">
                <a:solidFill>
                  <a:schemeClr val="lt1"/>
                </a:solidFill>
              </a:rPr>
              <a:t> joc: eliminare</a:t>
            </a:r>
            <a:endParaRPr>
              <a:solidFill>
                <a:schemeClr val="lt1"/>
              </a:solidFill>
            </a:endParaRPr>
          </a:p>
          <a:p>
            <a:pPr indent="-330200" lvl="7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ro" sz="1600">
                <a:solidFill>
                  <a:schemeClr val="lt1"/>
                </a:solidFill>
              </a:rPr>
              <a:t>eliminare linii</a:t>
            </a:r>
            <a:endParaRPr sz="1600">
              <a:solidFill>
                <a:schemeClr val="lt1"/>
              </a:solidFill>
            </a:endParaRPr>
          </a:p>
          <a:p>
            <a:pPr indent="-330200" lvl="7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ro" sz="1600">
                <a:solidFill>
                  <a:schemeClr val="lt1"/>
                </a:solidFill>
              </a:rPr>
              <a:t>eliminare L-uri</a:t>
            </a:r>
            <a:endParaRPr sz="1600">
              <a:solidFill>
                <a:schemeClr val="lt1"/>
              </a:solidFill>
            </a:endParaRPr>
          </a:p>
          <a:p>
            <a:pPr indent="-330200" lvl="7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ro" sz="1600">
                <a:solidFill>
                  <a:schemeClr val="lt1"/>
                </a:solidFill>
              </a:rPr>
              <a:t>eliminare T-uri</a:t>
            </a:r>
            <a:endParaRPr sz="1600"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Swap &amp; Co.: swap, copiere, schimbare, </a:t>
            </a:r>
            <a:r>
              <a:rPr lang="ro">
                <a:solidFill>
                  <a:schemeClr val="lt1"/>
                </a:solidFill>
              </a:rPr>
              <a:t>găsire punctaj maxim</a:t>
            </a:r>
            <a:r>
              <a:rPr lang="ro">
                <a:solidFill>
                  <a:schemeClr val="lt1"/>
                </a:solidFill>
              </a:rPr>
              <a:t>;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Modelarea jocului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67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Fiecare joc este o matrice de 11x11 cu indicii de linie și coloană luând valori între 0 și 10 inclusiv;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Pentru fiecare joc se aplică </a:t>
            </a: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</a:t>
            </a:r>
            <a:r>
              <a:rPr lang="ro">
                <a:solidFill>
                  <a:schemeClr val="lt1"/>
                </a:solidFill>
              </a:rPr>
              <a:t>menționate</a:t>
            </a:r>
            <a:r>
              <a:rPr lang="ro">
                <a:solidFill>
                  <a:schemeClr val="lt1"/>
                </a:solidFill>
              </a:rPr>
              <a:t> anterior </a:t>
            </a:r>
            <a:r>
              <a:rPr lang="ro">
                <a:solidFill>
                  <a:schemeClr val="lt1"/>
                </a:solidFill>
              </a:rPr>
              <a:t>într-un</a:t>
            </a:r>
            <a:r>
              <a:rPr lang="ro">
                <a:solidFill>
                  <a:schemeClr val="lt1"/>
                </a:solidFill>
              </a:rPr>
              <a:t> while: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25" y="1843925"/>
            <a:ext cx="531495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 folosite - detectatorul &amp; determinare_linii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31" y="641171"/>
            <a:ext cx="3614738" cy="2601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444" y="541169"/>
            <a:ext cx="4031113" cy="2801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447959"/>
            <a:ext cx="9143999" cy="1283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determinare_linii (if-uri </a:t>
            </a:r>
            <a:r>
              <a:rPr lang="ro">
                <a:solidFill>
                  <a:schemeClr val="lt1"/>
                </a:solidFill>
              </a:rPr>
              <a:t>după</a:t>
            </a:r>
            <a:r>
              <a:rPr lang="ro">
                <a:solidFill>
                  <a:schemeClr val="lt1"/>
                </a:solidFill>
              </a:rPr>
              <a:t> detectare)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300" y="1080000"/>
            <a:ext cx="31242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0000" y="1080000"/>
            <a:ext cx="313372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1152300" y="603150"/>
            <a:ext cx="313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600">
                <a:solidFill>
                  <a:schemeClr val="lt1"/>
                </a:solidFill>
              </a:rPr>
              <a:t>if pentru linii orizontale = linii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869600" y="607725"/>
            <a:ext cx="312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600">
                <a:solidFill>
                  <a:schemeClr val="lt1"/>
                </a:solidFill>
              </a:rPr>
              <a:t>if pentru linii verticale = coloane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 folosite - clasificare_formatiuni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63" y="595313"/>
            <a:ext cx="5095875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041538" y="-1013060"/>
            <a:ext cx="5060912" cy="716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eliminatorul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225" y="920838"/>
            <a:ext cx="3271266" cy="344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6005" y="841575"/>
            <a:ext cx="23812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eliminatorul (linii/coloane de 5)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75" y="1232438"/>
            <a:ext cx="4860000" cy="267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875" y="757238"/>
            <a:ext cx="23622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6218125" y="1363713"/>
            <a:ext cx="1111800" cy="3261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 folosite - eliminatorul (T-uri)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50" y="1236913"/>
            <a:ext cx="4338676" cy="266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476" y="785800"/>
            <a:ext cx="2390775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/>
          <p:nvPr/>
        </p:nvSpPr>
        <p:spPr>
          <a:xfrm>
            <a:off x="7129775" y="2290125"/>
            <a:ext cx="659700" cy="2370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7552200" y="1986250"/>
            <a:ext cx="237300" cy="8745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 folosite - eliminatorul (L-uri)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 rotWithShape="1">
          <a:blip r:embed="rId3">
            <a:alphaModFix/>
          </a:blip>
          <a:srcRect b="-1071" l="0" r="-999" t="0"/>
          <a:stretch/>
        </p:blipFill>
        <p:spPr>
          <a:xfrm>
            <a:off x="660275" y="1232251"/>
            <a:ext cx="4382835" cy="2679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7935" y="766750"/>
            <a:ext cx="235267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/>
          <p:nvPr/>
        </p:nvSpPr>
        <p:spPr>
          <a:xfrm>
            <a:off x="5632650" y="2001075"/>
            <a:ext cx="229800" cy="8598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5632650" y="2608800"/>
            <a:ext cx="659700" cy="2520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7300225" y="2897850"/>
            <a:ext cx="229800" cy="8598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7300225" y="3475950"/>
            <a:ext cx="659700" cy="2817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eliminatorul (linii/coloane de 4/3)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0" y="572688"/>
            <a:ext cx="3646779" cy="200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0" y="2655088"/>
            <a:ext cx="3623120" cy="19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3570" y="785813"/>
            <a:ext cx="2371725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0295" y="795338"/>
            <a:ext cx="2333625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/>
          <p:nvPr/>
        </p:nvSpPr>
        <p:spPr>
          <a:xfrm>
            <a:off x="8101425" y="1111700"/>
            <a:ext cx="622500" cy="2520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7012800" y="2571750"/>
            <a:ext cx="672900" cy="3039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6606175" y="4044275"/>
            <a:ext cx="672900" cy="3039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5149700" y="4044275"/>
            <a:ext cx="880800" cy="3039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8476125" y="2571750"/>
            <a:ext cx="247800" cy="896700"/>
          </a:xfrm>
          <a:prstGeom prst="frame">
            <a:avLst>
              <a:gd fmla="val 1250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gravitas &amp; regenerare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63" y="848825"/>
            <a:ext cx="4181475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450" y="848813"/>
            <a:ext cx="346710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swap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875" y="657225"/>
            <a:ext cx="5838825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swap (if-uri)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600" y="769525"/>
            <a:ext cx="4457700" cy="231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950" y="2379050"/>
            <a:ext cx="4198351" cy="2123120"/>
          </a:xfrm>
          <a:prstGeom prst="rect">
            <a:avLst/>
          </a:prstGeom>
          <a:noFill/>
          <a:ln>
            <a:noFill/>
          </a:ln>
          <a:effectLst>
            <a:outerShdw blurRad="185738" rotWithShape="0" algn="bl" dir="13500000" dist="76200">
              <a:srgbClr val="434343">
                <a:alpha val="80000"/>
              </a:srgbClr>
            </a:outerShdw>
          </a:effectLst>
        </p:spPr>
      </p:pic>
      <p:sp>
        <p:nvSpPr>
          <p:cNvPr id="174" name="Google Shape;174;p28"/>
          <p:cNvSpPr txBox="1"/>
          <p:nvPr/>
        </p:nvSpPr>
        <p:spPr>
          <a:xfrm>
            <a:off x="5248600" y="769525"/>
            <a:ext cx="3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o" sz="1600">
                <a:solidFill>
                  <a:schemeClr val="lt1"/>
                </a:solidFill>
              </a:rPr>
              <a:t>- schimbarea cu elementul din dreapta -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731600" y="3582625"/>
            <a:ext cx="330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o" sz="1600">
                <a:solidFill>
                  <a:schemeClr val="lt1"/>
                </a:solidFill>
              </a:rPr>
              <a:t>- schimbarea cu elementul de sub - 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folosite - swap (switch - swap-ul efectiv)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963" y="794875"/>
            <a:ext cx="6202680" cy="3553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Rezultate obținute pentru 100 de jocuri simulate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075" y="572700"/>
            <a:ext cx="5639848" cy="2377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375" y="3102647"/>
            <a:ext cx="695325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>
                <a:solidFill>
                  <a:schemeClr val="lt1"/>
                </a:solidFill>
              </a:rPr>
              <a:t>Limitări </a:t>
            </a:r>
            <a:r>
              <a:rPr lang="ro">
                <a:solidFill>
                  <a:schemeClr val="lt1"/>
                </a:solidFill>
              </a:rPr>
              <a:t>și</a:t>
            </a:r>
            <a:r>
              <a:rPr lang="ro">
                <a:solidFill>
                  <a:schemeClr val="lt1"/>
                </a:solidFill>
              </a:rPr>
              <a:t> posibile </a:t>
            </a:r>
            <a:r>
              <a:rPr lang="ro">
                <a:solidFill>
                  <a:schemeClr val="lt1"/>
                </a:solidFill>
              </a:rPr>
              <a:t>îmbunătățiri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Toate </a:t>
            </a:r>
            <a:r>
              <a:rPr lang="ro">
                <a:solidFill>
                  <a:schemeClr val="lt1"/>
                </a:solidFill>
              </a:rPr>
              <a:t>funcțiile</a:t>
            </a:r>
            <a:r>
              <a:rPr lang="ro">
                <a:solidFill>
                  <a:schemeClr val="lt1"/>
                </a:solidFill>
              </a:rPr>
              <a:t> sunt scrise </a:t>
            </a:r>
            <a:r>
              <a:rPr lang="ro">
                <a:solidFill>
                  <a:schemeClr val="lt1"/>
                </a:solidFill>
              </a:rPr>
              <a:t>și</a:t>
            </a:r>
            <a:r>
              <a:rPr lang="ro">
                <a:solidFill>
                  <a:schemeClr val="lt1"/>
                </a:solidFill>
              </a:rPr>
              <a:t> gândite doar pentru cazul unei matrici de 11x11;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Nu este implementat un algoritm de look-ahead care să detecteze </a:t>
            </a:r>
            <a:r>
              <a:rPr lang="ro">
                <a:solidFill>
                  <a:schemeClr val="lt1"/>
                </a:solidFill>
              </a:rPr>
              <a:t>schimbările</a:t>
            </a:r>
            <a:r>
              <a:rPr lang="ro">
                <a:solidFill>
                  <a:schemeClr val="lt1"/>
                </a:solidFill>
              </a:rPr>
              <a:t> în toată matricea </a:t>
            </a:r>
            <a:r>
              <a:rPr lang="ro">
                <a:solidFill>
                  <a:schemeClr val="lt1"/>
                </a:solidFill>
              </a:rPr>
              <a:t>după</a:t>
            </a:r>
            <a:r>
              <a:rPr lang="ro">
                <a:solidFill>
                  <a:schemeClr val="lt1"/>
                </a:solidFill>
              </a:rPr>
              <a:t> un swap și să optimizeze mutările în funcție de rezultatele obținute;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ro">
                <a:solidFill>
                  <a:schemeClr val="lt1"/>
                </a:solidFill>
              </a:rPr>
              <a:t>Pentru simulări de zeci sau chiar sute de mii de jocuri, timpul de rulare nu este optim;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